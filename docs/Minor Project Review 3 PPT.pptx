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5" r:id="rId7"/>
    <p:sldId id="266" r:id="rId8"/>
    <p:sldId id="267" r:id="rId9"/>
    <p:sldId id="268" r:id="rId10"/>
    <p:sldId id="260" r:id="rId11"/>
    <p:sldId id="261" r:id="rId12"/>
    <p:sldId id="271" r:id="rId13"/>
    <p:sldId id="272" r:id="rId14"/>
    <p:sldId id="262" r:id="rId15"/>
    <p:sldId id="263" r:id="rId16"/>
    <p:sldId id="264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C15C-D6EF-5FD4-64B0-CC10FAE9A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9D2E6-77E1-41CD-6C0A-6255E88AC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8559E-7BCE-73DA-751F-863B85AD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8829-A5E1-CE7B-275C-5E20D650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F19ED-48D2-AF25-CEA1-ED2FED53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80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5045-020F-1E00-23C5-8C9FC0B2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8E6E3-048D-C382-E639-BEA827707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FDAEF-0AF1-364C-324F-01635442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D7B10-04F8-C96F-7B1D-6B813C11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791DB-6B85-82C8-3F66-0A8EB5FD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97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3A46-F3CB-D2F1-9474-BBFE2AB5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B7922-16AB-71B2-8331-4772D28D4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7B23-27FB-590F-0E42-F09216A0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6F3BB-5E75-DFBC-6DCF-09E70FA9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541CC-1BF6-5B62-85A4-60B52F10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45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E2986-86C3-9343-07E4-1DB03647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05B3C-31B6-4CFD-4BD6-403AF7D72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61918-79BC-9712-F6E1-6F547AF9F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A4FDC-B9E9-45C3-EB49-E38F71D8F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0BA8C-282A-06C3-0C51-C9AA7B2A5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A790A-5A58-6C9A-A14C-E31E0C46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78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C6B3-378C-4534-4AA7-39E964639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B7363-E775-BD0E-3F09-E714545AD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40947-9E03-4935-D10C-0273BA7F6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22E75-1861-E63C-764D-E247CF3B0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B2C46-FDF1-5827-B332-E2FC1318C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4892B-5B7F-0CF3-D01C-23B3DB32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68C5A-851D-44B7-67A4-58E34B0D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2D2462-F828-9555-D73E-D3C32625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14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B8EB-9336-873C-ED4E-4CE5C92B8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93F44-AD4D-CC61-C89C-AA915FE2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8716A-77B6-7FA7-822F-14199D36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8225F-23BC-3484-1ABB-EC81495A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5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296459-10A3-AE49-8B1D-24760123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7B6B7-55A9-0690-4299-528FDDB1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25117-4F97-E231-882D-BC010FB6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904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B671-BCBD-C256-1E5D-46C213E76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0F536-8DDA-7B62-54CB-EEB8AF79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60536-C894-E666-6AB3-7928C814E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380A0-AEEC-9BDA-C4D4-15F3355E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C4400-6685-5CD6-D2CC-D80A0D57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B1A60-652E-5E09-67ED-6ACBF03E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305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D973-558C-D46D-95D6-AE0EF809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AC0F90-5F0A-089D-9CF3-1AECFDFC3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4EB0A-BD95-3EF3-D6D7-36F07B1E2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2CAF5-C108-22BE-864A-1951557F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1111F-FA03-C45E-2DB4-5A976CBC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984CD-50EA-C10F-94A3-9020B752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65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FC22-4027-60D2-1749-229A5F29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BC007-97CA-CD1B-ACF3-A30985461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29E15-4057-1B47-E964-B8F95FAD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16BA7-CECC-8A02-B5E0-C851601C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89F14-DA11-7426-3CE0-595E61CD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11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856F7-6FCC-5914-EFB7-62B805FC6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BD8F7-EAA7-516D-2A72-7C424F4DF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A6923-A759-D738-F58D-BC76A2FA6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86AA9-1BAE-DB0A-56D6-678D40F8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FF06A-9E3B-7121-B482-BCC54700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91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47580-0BE0-7B04-8D0C-17C8FE29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9C76E-1E77-0D38-7471-FC5F80273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85AF9-7F73-23C4-C475-1036C0CE9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F6CBA-5FF2-4BA1-A776-094FD39C6F5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18B36-189B-3D96-4AB2-0D978F032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DDBA-4976-1099-1655-4E82A80D3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6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4C8B-E490-A690-7E2B-CE1A08090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8574"/>
            <a:ext cx="9144000" cy="3755785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REVIEW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/>
              <a:t>AERIS: AI-Driven Decision Support System for</a:t>
            </a:r>
            <a:br>
              <a:rPr lang="en-IN" sz="3200" dirty="0"/>
            </a:br>
            <a:r>
              <a:rPr lang="en-US" sz="3200" b="1" dirty="0"/>
              <a:t>Flood Resilience and Post-Event Learning in Bihar</a:t>
            </a:r>
            <a:br>
              <a:rPr lang="en-IN" dirty="0"/>
            </a:br>
            <a:br>
              <a:rPr lang="en-IN" dirty="0"/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Category: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2C648-D747-6594-131E-9E1DA54D5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145" y="4325420"/>
            <a:ext cx="5715855" cy="1203699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Anupama C 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RM Institute of Science and Technology - Wikipedia">
            <a:extLst>
              <a:ext uri="{FF2B5EF4-FFF2-40B4-BE49-F238E27FC236}">
                <a16:creationId xmlns:a16="http://schemas.microsoft.com/office/drawing/2014/main" id="{77CE9206-B4A2-2784-EBA4-970EB1569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286" y="71919"/>
            <a:ext cx="1661019" cy="165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300BFE69-F882-E54B-B97B-494A8089AD99}"/>
              </a:ext>
            </a:extLst>
          </p:cNvPr>
          <p:cNvSpPr txBox="1">
            <a:spLocks/>
          </p:cNvSpPr>
          <p:nvPr/>
        </p:nvSpPr>
        <p:spPr>
          <a:xfrm>
            <a:off x="6096000" y="4325420"/>
            <a:ext cx="5715855" cy="12036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Vansh Agrawal (RA2311026010120)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Shivam Rajesh (RA2311026010306)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33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DDA3-7A09-E5E0-2A69-456914C0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Abstract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7F48E9-3116-EB9F-C86A-AFCC30FDD3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350" y="1134022"/>
            <a:ext cx="10515600" cy="4732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flood prediction systems rely on static predictive models.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systems do not adapt after real-world deployment.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system integrates spatiotemporal flood risk modeling with structured post-event analysis and model recalibration.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framework continuously improves prediction accuracy through region-specific adaptive learning.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measurable reduction in prediction error over iterative learning cycles. </a:t>
            </a:r>
          </a:p>
        </p:txBody>
      </p:sp>
    </p:spTree>
    <p:extLst>
      <p:ext uri="{BB962C8B-B14F-4D97-AF65-F5344CB8AC3E}">
        <p14:creationId xmlns:p14="http://schemas.microsoft.com/office/powerpoint/2010/main" val="51580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6279-38BF-B8B1-9A5C-F3027352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A6A198-704A-9911-B1D0-7A630C835A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54729"/>
            <a:ext cx="10952747" cy="5093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This project aims to combine flood prediction and post-disaster analysis into a single intelligent system.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situations demand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decision-making and coordination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and rule-based systems are often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and error-prone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can analyze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volumes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efficiently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+ GIS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significantly improve emergency response outcomes</a:t>
            </a:r>
          </a:p>
          <a:p>
            <a:pPr lvl="1"/>
            <a:r>
              <a:rPr lang="en-US" sz="2000" dirty="0"/>
              <a:t>Static emergency prediction limitations</a:t>
            </a:r>
          </a:p>
          <a:p>
            <a:pPr lvl="1"/>
            <a:r>
              <a:rPr lang="en-US" sz="2000" dirty="0"/>
              <a:t>Need for adaptive recalibration</a:t>
            </a:r>
          </a:p>
          <a:p>
            <a:pPr lvl="1"/>
            <a:r>
              <a:rPr lang="en-US" sz="2000" dirty="0"/>
              <a:t>Dynamic urban environments</a:t>
            </a:r>
          </a:p>
          <a:p>
            <a:pPr lvl="1"/>
            <a:r>
              <a:rPr lang="en-US" sz="2000" dirty="0"/>
              <a:t>Continuous learning necessity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Emergency environments are non-stationary, requiring adaptive prediction mechanisms rather than static deployment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61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5AC31-95E3-4D39-D28E-DDAFCE62AD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7375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Architecture Diagram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CF0EAC-BBCA-7E37-AFB6-5087BD4F5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165" y="1894008"/>
            <a:ext cx="7613670" cy="4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71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70E0-5C04-941C-F396-42508109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9E42-A598-B6EB-B139-283F1FE4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176AAB-0636-87A0-F3D8-5212A08767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7410684"/>
              </p:ext>
            </p:extLst>
          </p:nvPr>
        </p:nvGraphicFramePr>
        <p:xfrm>
          <a:off x="838200" y="1690688"/>
          <a:ext cx="10515600" cy="4802187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7908725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73721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10344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302318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07514209"/>
                    </a:ext>
                  </a:extLst>
                </a:gridCol>
              </a:tblGrid>
              <a:tr h="48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S. No</a:t>
                      </a:r>
                      <a:endParaRPr lang="en-IN" sz="14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Title (Name of the journal, author and publication details)</a:t>
                      </a:r>
                      <a:endParaRPr lang="en-US" sz="9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Methodology (Provide a summary of key studies and their findings)</a:t>
                      </a:r>
                      <a:endParaRPr lang="en-US" sz="9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Identification of gaps and limitations (Identify limitations of the Research Paper)</a:t>
                      </a:r>
                      <a:endParaRPr lang="en-US" sz="9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Result (Include relevant metrics)</a:t>
                      </a:r>
                      <a:endParaRPr lang="en-IN" sz="900" dirty="0"/>
                    </a:p>
                  </a:txBody>
                  <a:tcPr marL="23145" marR="23145" marT="11573" marB="11573" anchor="ctr" anchorCtr="1"/>
                </a:tc>
                <a:extLst>
                  <a:ext uri="{0D108BD9-81ED-4DB2-BD59-A6C34878D82A}">
                    <a16:rowId xmlns:a16="http://schemas.microsoft.com/office/drawing/2014/main" val="863636219"/>
                  </a:ext>
                </a:extLst>
              </a:tr>
              <a:tr h="1317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  <a:endParaRPr lang="en-IN" sz="5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Ammar Bajwa, AI-Based Emergency Response Systems: A Systematic Literature Review on Smart Infrastructure Safety, American Journal of Advanced Technology and Engineering Solutions, Vol. 1, Issue 1, 2025.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Conducted a systematic review of over 400 research papers.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Analyzed AI techniques such as machine learning, deep learning, IoT, and computer vision.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Studied AI applications in emergency detection, decision support, and response coordination.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Focuses mainly on theoretical analysis.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Limited discussion on real-time resource mapping.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No unified AI-GIS framework proposed.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Lacks experimental validation.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AI-based systems reduce emergency response delays.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Improved decision accuracy in emergency management.</a:t>
                      </a:r>
                    </a:p>
                  </a:txBody>
                  <a:tcPr marL="23145" marR="23145" marT="11573" marB="11573" anchor="ctr" anchorCtr="1"/>
                </a:tc>
                <a:extLst>
                  <a:ext uri="{0D108BD9-81ED-4DB2-BD59-A6C34878D82A}">
                    <a16:rowId xmlns:a16="http://schemas.microsoft.com/office/drawing/2014/main" val="1687345003"/>
                  </a:ext>
                </a:extLst>
              </a:tr>
              <a:tr h="1317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Sergi </a:t>
                      </a:r>
                      <a:r>
                        <a:rPr lang="en-US" sz="800" dirty="0" err="1"/>
                        <a:t>Mercadé</a:t>
                      </a:r>
                      <a:r>
                        <a:rPr lang="en-US" sz="800" dirty="0"/>
                        <a:t> et al., IRIS-AI: An AI-Based Resource Recommender for Emergency Decision Support Systems of Fire Departments, International Journal of Computational Intelligence Systems, 2025.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Proposed an AI-based recommendation system for emergency resources.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Used machine learning models to analyze incident data.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Predicted resource needs based on emergency severity.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Evaluated using real-world fire department datasets.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Limited to fire emergency scenarios.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Not generalized for medical or natural disasters.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Does not include detailed geospatial mapping.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Improved accuracy of resource recommendations.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Reduced emergency response time compared to manual methods.</a:t>
                      </a:r>
                    </a:p>
                  </a:txBody>
                  <a:tcPr marL="23145" marR="23145" marT="11573" marB="11573" anchor="ctr" anchorCtr="1"/>
                </a:tc>
                <a:extLst>
                  <a:ext uri="{0D108BD9-81ED-4DB2-BD59-A6C34878D82A}">
                    <a16:rowId xmlns:a16="http://schemas.microsoft.com/office/drawing/2014/main" val="2290277375"/>
                  </a:ext>
                </a:extLst>
              </a:tr>
              <a:tr h="825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J. Diehr, Artificial Intelligence and Machine Learning-Powered GIS for Proactive Disaster Resilience in a Changing Climate, Taylor &amp; Francis Journal of Disaster Studies, 2025.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Integrated AI models with GIS systems.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Used spatial and historical disaster data.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Applied machine learning for disaster risk prediction and planning.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Focuses more on disaster prediction than response execution.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No automated resource allocation mechanism.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Limited real-time system implementation.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Improved disaster risk identification accuracy.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Enhanced spatial decision-making for emergency planning.</a:t>
                      </a:r>
                    </a:p>
                  </a:txBody>
                  <a:tcPr marL="23145" marR="23145" marT="11573" marB="11573" anchor="ctr" anchorCtr="1"/>
                </a:tc>
                <a:extLst>
                  <a:ext uri="{0D108BD9-81ED-4DB2-BD59-A6C34878D82A}">
                    <a16:rowId xmlns:a16="http://schemas.microsoft.com/office/drawing/2014/main" val="186056366"/>
                  </a:ext>
                </a:extLst>
              </a:tr>
              <a:tr h="861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4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W. Sun et al., Applications of Artificial Intelligence for Disaster Management, ISCRAM Conference Proceedings, 2020.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Reviewed AI techniques for disaster response and management.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Studied social media mining and information extraction.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Evaluated AI-based decision support systems.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Survey-based study only.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Does not focus on resource mapping. No implementation framework provided.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Improved situational awareness during emergencies.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Faster information extraction using AI.</a:t>
                      </a:r>
                    </a:p>
                  </a:txBody>
                  <a:tcPr marL="23145" marR="23145" marT="11573" marB="11573" anchor="ctr" anchorCtr="1"/>
                </a:tc>
                <a:extLst>
                  <a:ext uri="{0D108BD9-81ED-4DB2-BD59-A6C34878D82A}">
                    <a16:rowId xmlns:a16="http://schemas.microsoft.com/office/drawing/2014/main" val="313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422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384FE-FFE6-AD10-4D92-5570F9DD2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BC32-F5F6-FC0A-084E-DB5022797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B7539F92-3AD4-1FE9-7E7D-F12D9D16CF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87930"/>
              </p:ext>
            </p:extLst>
          </p:nvPr>
        </p:nvGraphicFramePr>
        <p:xfrm>
          <a:off x="838199" y="1131190"/>
          <a:ext cx="10515600" cy="564785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7908725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73721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10344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302318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07514209"/>
                    </a:ext>
                  </a:extLst>
                </a:gridCol>
              </a:tblGrid>
              <a:tr h="421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S. No</a:t>
                      </a:r>
                      <a:endParaRPr lang="en-IN" sz="14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Title (Name of the journal, author and publication details)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Methodology (Provide a summary of key studies and their findings)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Identification of gaps and limitations (Identify limitations of the Research Paper)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Result (Include relevant metrics)</a:t>
                      </a:r>
                      <a:endParaRPr lang="en-IN" sz="900" dirty="0"/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863636219"/>
                  </a:ext>
                </a:extLst>
              </a:tr>
              <a:tr h="1321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5</a:t>
                      </a:r>
                      <a:endParaRPr lang="en-IN" sz="5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/>
                        <a:t>Real-Time Emergency Response Systems Powered by AI</a:t>
                      </a:r>
                      <a:r>
                        <a:rPr lang="en-IN" sz="800" dirty="0"/>
                        <a:t> </a:t>
                      </a:r>
                      <a:br>
                        <a:rPr lang="en-IN" sz="800" dirty="0"/>
                      </a:br>
                      <a:r>
                        <a:rPr lang="en-IN" sz="800" i="1" dirty="0"/>
                        <a:t>Thiri Htun, Aung Naing Soe, </a:t>
                      </a:r>
                      <a:r>
                        <a:rPr lang="en-IN" sz="800" i="1" dirty="0" err="1"/>
                        <a:t>Nway</a:t>
                      </a:r>
                      <a:r>
                        <a:rPr lang="en-IN" sz="800" i="1" dirty="0"/>
                        <a:t> </a:t>
                      </a:r>
                      <a:r>
                        <a:rPr lang="en-IN" sz="800" i="1" dirty="0" err="1"/>
                        <a:t>Nway</a:t>
                      </a:r>
                      <a:r>
                        <a:rPr lang="en-IN" sz="800" i="1" dirty="0"/>
                        <a:t> Aye, Zaw Min Htut</a:t>
                      </a:r>
                      <a:r>
                        <a:rPr lang="en-IN" sz="800" dirty="0"/>
                        <a:t> </a:t>
                      </a:r>
                      <a:br>
                        <a:rPr lang="en-IN" sz="800" dirty="0"/>
                      </a:br>
                      <a:r>
                        <a:rPr lang="en-IN" sz="800" i="1" dirty="0"/>
                        <a:t>University of Computer Studies, Yangon</a:t>
                      </a:r>
                      <a:r>
                        <a:rPr lang="en-IN" sz="800" dirty="0"/>
                        <a:t> </a:t>
                      </a:r>
                      <a:br>
                        <a:rPr lang="en-IN" sz="800" dirty="0"/>
                      </a:br>
                      <a:r>
                        <a:rPr lang="en-IN" sz="800" i="1" dirty="0"/>
                        <a:t>Published: Dec 2023</a:t>
                      </a:r>
                      <a:endParaRPr lang="en-US" sz="8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paper proposes an AI-powered real-time emergency response architecture integrating </a:t>
                      </a:r>
                      <a:r>
                        <a:rPr lang="en-US" sz="800" b="1" dirty="0"/>
                        <a:t>IoT sensors, GIS, machine learning, NLP, and cloud computing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Real-time data from sensors, emergency calls, and social media is processed to predict incident severity, optimize resource allocation, and support decision-making. Human-in-the-loop oversight is included for validation.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system relies heavily on </a:t>
                      </a:r>
                      <a:r>
                        <a:rPr lang="en-US" sz="800" b="1" dirty="0"/>
                        <a:t>high-quality real-time data</a:t>
                      </a:r>
                      <a:r>
                        <a:rPr lang="en-US" sz="800" dirty="0"/>
                        <a:t>, which may not be available in rural or underdeveloped regions.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Ethical concerns such as </a:t>
                      </a:r>
                      <a:r>
                        <a:rPr lang="en-US" sz="800" b="1" dirty="0"/>
                        <a:t>data privacy, algorithmic bias, and system scalability</a:t>
                      </a:r>
                      <a:r>
                        <a:rPr lang="en-US" sz="800" dirty="0"/>
                        <a:t> are not experimentally validated.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study lacks real-world deployment results and quantitative performance comparison.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study concludes that AI-driven systems </a:t>
                      </a:r>
                      <a:r>
                        <a:rPr lang="en-US" sz="800" b="1" dirty="0"/>
                        <a:t>significantly reduce response time</a:t>
                      </a:r>
                      <a:r>
                        <a:rPr lang="en-US" sz="800" dirty="0"/>
                        <a:t>, improve situational awareness, and enable better coordination among emergency agencies.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Simulation-based evaluation shows improved efficiency in resource dispatch and emergency prioritization compared to traditional manual systems..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1687345003"/>
                  </a:ext>
                </a:extLst>
              </a:tr>
              <a:tr h="1321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6</a:t>
                      </a:r>
                      <a:endParaRPr lang="en-IN" sz="24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AI-Based Emergency Response Systems: A Systematic Literature Review on Smart Infrastructure Safety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Ammar Bajwa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American Journal of Advanced Technology and Engineering Solutions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Published: March 2025</a:t>
                      </a:r>
                      <a:endParaRPr lang="en-US" sz="8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This paper presents a </a:t>
                      </a:r>
                      <a:r>
                        <a:rPr lang="en-US" sz="800" b="1" dirty="0"/>
                        <a:t>systematic literature review of 424 studies</a:t>
                      </a:r>
                      <a:r>
                        <a:rPr lang="en-US" sz="800" dirty="0"/>
                        <a:t> focusing on AI-based emergency response systems.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It analyzes the use of </a:t>
                      </a:r>
                      <a:r>
                        <a:rPr lang="en-US" sz="800" b="1" dirty="0"/>
                        <a:t>machine learning, deep learning, computer vision, IoT sensors, robotics, and predictive analytics</a:t>
                      </a:r>
                      <a:r>
                        <a:rPr lang="en-US" sz="800" dirty="0"/>
                        <a:t> across domains such as disaster management, healthcare emergencies, traffic control, industrial safety, and cybersecurity.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review highlights a lack of </a:t>
                      </a:r>
                      <a:r>
                        <a:rPr lang="en-US" sz="800" b="1" dirty="0"/>
                        <a:t>interoperability standards</a:t>
                      </a:r>
                      <a:r>
                        <a:rPr lang="en-US" sz="800" dirty="0"/>
                        <a:t> among AI systems across agencies.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Many studies are </a:t>
                      </a:r>
                      <a:r>
                        <a:rPr lang="en-US" sz="800" b="1" dirty="0"/>
                        <a:t>simulation-based</a:t>
                      </a:r>
                      <a:r>
                        <a:rPr lang="en-US" sz="800" dirty="0"/>
                        <a:t> with limited real-world deployment.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Ethical concerns like </a:t>
                      </a:r>
                      <a:r>
                        <a:rPr lang="en-US" sz="800" b="1" dirty="0"/>
                        <a:t>bias, transparency, and regulatory compliance</a:t>
                      </a:r>
                      <a:r>
                        <a:rPr lang="en-US" sz="800" dirty="0"/>
                        <a:t> are discussed but not resolved.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High implementation cost remains a barrier.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review finds that AI significantly </a:t>
                      </a:r>
                      <a:r>
                        <a:rPr lang="en-US" sz="800" b="1" dirty="0"/>
                        <a:t>improves predictive accuracy, early warning systems, incident detection, and resource optimization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AI-driven systems reduce response time, enhance situational awareness, and minimize human error, especially in disaster preparedness and healthcare emergency response.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2290277375"/>
                  </a:ext>
                </a:extLst>
              </a:tr>
              <a:tr h="1085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7</a:t>
                      </a:r>
                      <a:endParaRPr lang="en-IN" sz="24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 Systematic Review of Disaster Management Systems: Approaches, Challenges, and Future </a:t>
                      </a:r>
                      <a:r>
                        <a:rPr lang="en-US" sz="800" dirty="0" err="1"/>
                        <a:t>DirectionsSaad</a:t>
                      </a:r>
                      <a:r>
                        <a:rPr lang="en-US" sz="800" dirty="0"/>
                        <a:t> Mazhar Khan et </a:t>
                      </a:r>
                      <a:r>
                        <a:rPr lang="en-US" sz="800" dirty="0" err="1"/>
                        <a:t>al.Journal</a:t>
                      </a:r>
                      <a:r>
                        <a:rPr lang="en-US" sz="800" dirty="0"/>
                        <a:t>: Land (MDPI)Published: July 2023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This paper conducts a </a:t>
                      </a:r>
                      <a:r>
                        <a:rPr lang="en-US" sz="800" b="1" dirty="0"/>
                        <a:t>systematic literature review</a:t>
                      </a:r>
                      <a:r>
                        <a:rPr lang="en-US" sz="800" dirty="0"/>
                        <a:t> of disaster management systems focusing on </a:t>
                      </a:r>
                      <a:r>
                        <a:rPr lang="en-US" sz="800" b="1" dirty="0"/>
                        <a:t>floods, earthquakes, and wildfires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It examines the use of </a:t>
                      </a:r>
                      <a:r>
                        <a:rPr lang="en-US" sz="800" b="1" dirty="0"/>
                        <a:t>GIS, remote sensing, IoT, cloud computing, machine learning, big data analytics, and Google Earth Engine</a:t>
                      </a:r>
                      <a:r>
                        <a:rPr lang="en-US" sz="800" dirty="0"/>
                        <a:t> for disaster preparedness, response, and recovery.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Most reviewed systems are </a:t>
                      </a:r>
                      <a:r>
                        <a:rPr lang="en-US" sz="800" b="1" dirty="0"/>
                        <a:t>hazard-specific</a:t>
                      </a:r>
                      <a:r>
                        <a:rPr lang="en-US" sz="800" dirty="0"/>
                        <a:t> and lack a unified multi-hazard framework.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Real-time implementation is limited due to </a:t>
                      </a:r>
                      <a:r>
                        <a:rPr lang="en-US" sz="800" b="1" dirty="0"/>
                        <a:t>data availability and infrastructure dependency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Human coordination and decision-making integration remain weak.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study shows that integrating </a:t>
                      </a:r>
                      <a:r>
                        <a:rPr lang="en-US" sz="800" b="1" dirty="0"/>
                        <a:t>AI, GIS, and remote sensing</a:t>
                      </a:r>
                      <a:r>
                        <a:rPr lang="en-US" sz="800" dirty="0"/>
                        <a:t> improves early warning accuracy, situational awareness, and response coordination.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Data-driven disaster management systems enhance preparedness and reduce loss of life and infrastructure damage.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186056366"/>
                  </a:ext>
                </a:extLst>
              </a:tr>
              <a:tr h="1321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8</a:t>
                      </a:r>
                      <a:endParaRPr lang="en-IN" sz="24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OPTIC-ER: A Reinforcement Learning Framework for Real-Time Emergency Response and Equitable Resource Allocation in Underserved African </a:t>
                      </a:r>
                      <a:r>
                        <a:rPr lang="en-US" sz="800" dirty="0" err="1"/>
                        <a:t>CommunitiesMary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TonwearXiv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preprintPublished</a:t>
                      </a:r>
                      <a:r>
                        <a:rPr lang="en-US" sz="800" dirty="0"/>
                        <a:t>: Dec 2025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paper proposes </a:t>
                      </a:r>
                      <a:r>
                        <a:rPr lang="en-US" sz="800" b="1" dirty="0"/>
                        <a:t>OPTIC-ER</a:t>
                      </a:r>
                      <a:r>
                        <a:rPr lang="en-US" sz="800" dirty="0"/>
                        <a:t>, a </a:t>
                      </a:r>
                      <a:r>
                        <a:rPr lang="en-US" sz="800" b="1" dirty="0"/>
                        <a:t>reinforcement learning (RL)–based emergency dispatch framework</a:t>
                      </a:r>
                      <a:r>
                        <a:rPr lang="en-US" sz="800" dirty="0"/>
                        <a:t> using an attention-guided actor-critic model.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It integrates </a:t>
                      </a:r>
                      <a:r>
                        <a:rPr lang="en-US" sz="800" b="1" dirty="0"/>
                        <a:t>GIS road networks, travel-time atlas (Dijkstra), and contextual state vectors</a:t>
                      </a:r>
                      <a:r>
                        <a:rPr lang="en-US" sz="800" dirty="0"/>
                        <a:t> to optimize real-time dispatch decisions.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system is evaluated using a high-fidelity simulation built on real infrastructure data from Nigeria.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framework is </a:t>
                      </a:r>
                      <a:r>
                        <a:rPr lang="en-US" sz="800" b="1" dirty="0"/>
                        <a:t>validated only in simulation</a:t>
                      </a:r>
                      <a:r>
                        <a:rPr lang="en-US" sz="800" dirty="0"/>
                        <a:t>, with no live deployment.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Performance depends on </a:t>
                      </a:r>
                      <a:r>
                        <a:rPr lang="en-US" sz="800" b="1" dirty="0"/>
                        <a:t>accurate road and infrastructure data</a:t>
                      </a:r>
                      <a:r>
                        <a:rPr lang="en-US" sz="800" dirty="0"/>
                        <a:t>, which may be unavailable in many regions.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Computational and governance challenges for large-scale real-time adoption are not fully explored..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model achieves </a:t>
                      </a:r>
                      <a:r>
                        <a:rPr lang="en-US" sz="800" b="1" dirty="0"/>
                        <a:t>near-optimal dispatch decisions (≈100% optimal action selection)</a:t>
                      </a:r>
                      <a:r>
                        <a:rPr lang="en-US" sz="800" dirty="0"/>
                        <a:t> in unseen test cases.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Results show improved response time, fairer resource allocation, and identification of underserved regions using infrastructure deficiency maps.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313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84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242E-B593-FA7B-939E-ECC2943F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CF21-87BD-5AAF-852A-219872028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61A6395F-E556-3373-0D5E-386387271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223185"/>
              </p:ext>
            </p:extLst>
          </p:nvPr>
        </p:nvGraphicFramePr>
        <p:xfrm>
          <a:off x="838200" y="1066801"/>
          <a:ext cx="10604500" cy="552593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790872565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197372105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3381034401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1430231886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907514209"/>
                    </a:ext>
                  </a:extLst>
                </a:gridCol>
              </a:tblGrid>
              <a:tr h="403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S. No</a:t>
                      </a:r>
                      <a:endParaRPr lang="en-IN" sz="14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Title (Name of the journal, author and publication details)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Methodology (Provide a summary of key studies and their findings)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Identification of gaps and limitations (Identify limitations of the Research Paper)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Result (Include relevant metrics)</a:t>
                      </a:r>
                      <a:endParaRPr lang="en-IN" sz="900" dirty="0"/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863636219"/>
                  </a:ext>
                </a:extLst>
              </a:tr>
              <a:tr h="1153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9</a:t>
                      </a:r>
                      <a:endParaRPr lang="en-IN" sz="5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Explainable Artificial Intelligence in Disaster Risk Management: Achievements and Prospective </a:t>
                      </a:r>
                      <a:r>
                        <a:rPr lang="en-US" sz="800" dirty="0" err="1"/>
                        <a:t>FuturesSaman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Ghaffarian</a:t>
                      </a:r>
                      <a:r>
                        <a:rPr lang="en-US" sz="800" dirty="0"/>
                        <a:t> et </a:t>
                      </a:r>
                      <a:r>
                        <a:rPr lang="en-US" sz="800" dirty="0" err="1"/>
                        <a:t>al.International</a:t>
                      </a:r>
                      <a:r>
                        <a:rPr lang="en-US" sz="800" dirty="0"/>
                        <a:t> Journal of Disaster Risk Reduction (Elsevier)Published: Nov 2023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This paper presents a </a:t>
                      </a:r>
                      <a:r>
                        <a:rPr lang="en-US" sz="800" b="1" dirty="0"/>
                        <a:t>systematic literature review of 195 studies</a:t>
                      </a:r>
                      <a:r>
                        <a:rPr lang="en-US" sz="800" dirty="0"/>
                        <a:t>, with 68 selected for detailed analysis, focusing on the use of </a:t>
                      </a:r>
                      <a:r>
                        <a:rPr lang="en-US" sz="800" b="1" dirty="0"/>
                        <a:t>Explainable AI (XAI)</a:t>
                      </a:r>
                      <a:r>
                        <a:rPr lang="en-US" sz="800" dirty="0"/>
                        <a:t> in disaster risk management.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It evaluates XAI methods such as </a:t>
                      </a:r>
                      <a:r>
                        <a:rPr lang="en-US" sz="800" b="1" dirty="0"/>
                        <a:t>SHAP, LIME, Grad-CAM</a:t>
                      </a:r>
                      <a:r>
                        <a:rPr lang="en-US" sz="800" dirty="0"/>
                        <a:t>, and interpretable ML models across disaster phases like early warning, damage assessment, and decision support.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review identifies </a:t>
                      </a:r>
                      <a:r>
                        <a:rPr lang="en-US" sz="800" b="1" dirty="0"/>
                        <a:t>limited real-world adoption of XAI</a:t>
                      </a:r>
                      <a:r>
                        <a:rPr lang="en-US" sz="800" dirty="0"/>
                        <a:t>, with most studies remaining theoretical or case-specific.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Integration of XAI into real-time emergency systems is minimal.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Lack of standard evaluation metrics and domain-specific explainability frameworks remains a challenge.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study concludes that XAI </a:t>
                      </a:r>
                      <a:r>
                        <a:rPr lang="en-US" sz="800" b="1" dirty="0"/>
                        <a:t>improves transparency, trust, and decision accountability</a:t>
                      </a:r>
                      <a:r>
                        <a:rPr lang="en-US" sz="800" dirty="0"/>
                        <a:t> in AI-driven disaster management systems.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It highlights growing adoption trends in 2022–2023 and emphasizes XAI’s role in improving risk communication and policy-level decision-making.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1687345003"/>
                  </a:ext>
                </a:extLst>
              </a:tr>
              <a:tr h="1266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</a:t>
                      </a:r>
                      <a:r>
                        <a:rPr lang="en-IN" sz="2400" dirty="0"/>
                        <a:t>0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AI-Enhanced Crowdsourcing for Disaster Management: Strengthening Community Resilience Through Social </a:t>
                      </a:r>
                      <a:r>
                        <a:rPr lang="en-IN" sz="800" dirty="0" err="1"/>
                        <a:t>MediaSheikh</a:t>
                      </a:r>
                      <a:r>
                        <a:rPr lang="en-IN" sz="800" dirty="0"/>
                        <a:t> Kamran Abid et </a:t>
                      </a:r>
                      <a:r>
                        <a:rPr lang="en-IN" sz="800" dirty="0" err="1"/>
                        <a:t>al.International</a:t>
                      </a:r>
                      <a:r>
                        <a:rPr lang="en-IN" sz="800" dirty="0"/>
                        <a:t> Journal of Emergency </a:t>
                      </a:r>
                      <a:r>
                        <a:rPr lang="en-IN" sz="800" dirty="0" err="1"/>
                        <a:t>MedicinePublished</a:t>
                      </a:r>
                      <a:r>
                        <a:rPr lang="en-IN" sz="800" dirty="0"/>
                        <a:t>: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This paper performs a </a:t>
                      </a:r>
                      <a:r>
                        <a:rPr lang="en-US" sz="800" b="1" dirty="0"/>
                        <a:t>systematic review using the PRISMA framework</a:t>
                      </a:r>
                      <a:r>
                        <a:rPr lang="en-US" sz="800" dirty="0"/>
                        <a:t> to study how </a:t>
                      </a:r>
                      <a:r>
                        <a:rPr lang="en-US" sz="800" b="1" dirty="0"/>
                        <a:t>AI combined with social media crowdsourcing</a:t>
                      </a:r>
                      <a:r>
                        <a:rPr lang="en-US" sz="800" dirty="0"/>
                        <a:t> improves disaster response.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Techniques such as </a:t>
                      </a:r>
                      <a:r>
                        <a:rPr lang="en-US" sz="800" b="1" dirty="0"/>
                        <a:t>NLP, machine learning, computer vision</a:t>
                      </a:r>
                      <a:r>
                        <a:rPr lang="en-US" sz="800" dirty="0"/>
                        <a:t>, and real-time analytics are used to analyze posts, images, and videos for crisis detection, damage assessment, and resource coordination.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Heavy dependence on </a:t>
                      </a:r>
                      <a:r>
                        <a:rPr lang="en-US" sz="800" b="1" dirty="0"/>
                        <a:t>social media data quality</a:t>
                      </a:r>
                      <a:r>
                        <a:rPr lang="en-US" sz="800" dirty="0"/>
                        <a:t>, which may include misinformation or bias.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Limited applicability in regions with </a:t>
                      </a:r>
                      <a:r>
                        <a:rPr lang="en-US" sz="800" b="1" dirty="0"/>
                        <a:t>low digital penetration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Privacy, ethical concerns, and misinformation filtering are not fully resolved.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study finds that AI-enhanced crowdsourcing </a:t>
                      </a:r>
                      <a:r>
                        <a:rPr lang="en-US" sz="800" b="1" dirty="0"/>
                        <a:t>improves response speed, situational awareness, and community participation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Results show faster identification of affected areas, optimized resource allocation, and improved community resilience compared to traditional disaster response methods.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2290277375"/>
                  </a:ext>
                </a:extLst>
              </a:tr>
              <a:tr h="1153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</a:t>
                      </a:r>
                      <a:r>
                        <a:rPr lang="en-IN" sz="2400" dirty="0"/>
                        <a:t>1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AI-Powered Smart Emergency Services Support for 9-1-1 Call Handlers Using Textual Features and SVM Model for Digital Health Optimization 2025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paper proposes an </a:t>
                      </a:r>
                      <a:r>
                        <a:rPr lang="en-US" sz="800" b="1" dirty="0"/>
                        <a:t>AI-based Emergency Call Assistant (ECA)</a:t>
                      </a:r>
                      <a:r>
                        <a:rPr lang="en-US" sz="800" dirty="0"/>
                        <a:t> framework that uses </a:t>
                      </a:r>
                      <a:r>
                        <a:rPr lang="en-US" sz="800" b="1" dirty="0"/>
                        <a:t>NLP and Support Vector Machine (SVM)</a:t>
                      </a:r>
                      <a:r>
                        <a:rPr lang="en-US" sz="800" dirty="0"/>
                        <a:t> models to analyze transcribed emergency calls.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system categorizes emergencies, suggests relevant questions, provides pre-arrival instructions, and auto-generates incident reports to assist 9-1-1 call handlers in real time.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system depends on </a:t>
                      </a:r>
                      <a:r>
                        <a:rPr lang="en-US" sz="800" b="1" dirty="0"/>
                        <a:t>accurate speech-to-text conversion</a:t>
                      </a:r>
                      <a:r>
                        <a:rPr lang="en-US" sz="800" dirty="0"/>
                        <a:t>, which may degrade in noisy or multilingual environments.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model is trained on </a:t>
                      </a:r>
                      <a:r>
                        <a:rPr lang="en-US" sz="800" b="1" dirty="0"/>
                        <a:t>region-specific datasets</a:t>
                      </a:r>
                      <a:r>
                        <a:rPr lang="en-US" sz="800" dirty="0"/>
                        <a:t>, limiting generalizability.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Integration with existing emergency infrastructure is not fully validated.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proposed system achieves </a:t>
                      </a:r>
                      <a:r>
                        <a:rPr lang="en-US" sz="800" b="1" dirty="0"/>
                        <a:t>92.7% accuracy</a:t>
                      </a:r>
                      <a:r>
                        <a:rPr lang="en-US" sz="800" dirty="0"/>
                        <a:t> in emergency categorization.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Results show reduced human error, faster decision-making, and improved prioritization of emergency calls, enhancing digital healthcare emergency response.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186056366"/>
                  </a:ext>
                </a:extLst>
              </a:tr>
              <a:tr h="1153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</a:t>
                      </a:r>
                      <a:r>
                        <a:rPr lang="en-IN" sz="2400" dirty="0"/>
                        <a:t>2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A Systematic Review of Trustworthy Artificial Intelligence Applications in Natural Disasters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A.S. </a:t>
                      </a:r>
                      <a:r>
                        <a:rPr lang="en-US" sz="800" i="1" dirty="0" err="1"/>
                        <a:t>Albahri</a:t>
                      </a:r>
                      <a:r>
                        <a:rPr lang="en-US" sz="800" i="1" dirty="0"/>
                        <a:t> et al.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Computers and Electrical Engineering (Elsevier)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Published: June 2024</a:t>
                      </a:r>
                      <a:endParaRPr lang="en-IN" sz="8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This paper presents a </a:t>
                      </a:r>
                      <a:r>
                        <a:rPr lang="en-US" sz="800" b="1" dirty="0"/>
                        <a:t>systematic literature review of 108 selected studies</a:t>
                      </a:r>
                      <a:r>
                        <a:rPr lang="en-US" sz="800" dirty="0"/>
                        <a:t> (from 981 papers) focusing on </a:t>
                      </a:r>
                      <a:r>
                        <a:rPr lang="en-US" sz="800" b="1" dirty="0"/>
                        <a:t>trustworthy AI</a:t>
                      </a:r>
                      <a:r>
                        <a:rPr lang="en-US" sz="800" dirty="0"/>
                        <a:t> in natural disasters.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It analyzes AI techniques such as </a:t>
                      </a:r>
                      <a:r>
                        <a:rPr lang="en-US" sz="800" b="1" dirty="0"/>
                        <a:t>machine learning, deep learning, XAI, data fusion, fuzzy logic, and multi-criteria decision-making</a:t>
                      </a:r>
                      <a:r>
                        <a:rPr lang="en-US" sz="800" dirty="0"/>
                        <a:t> across disaster prediction, risk assessment, and emergency management..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Many AI models lack </a:t>
                      </a:r>
                      <a:r>
                        <a:rPr lang="en-US" sz="800" b="1" dirty="0"/>
                        <a:t>robustness, transparency, and real-world validation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Trust-related issues such as </a:t>
                      </a:r>
                      <a:r>
                        <a:rPr lang="en-US" sz="800" b="1" dirty="0"/>
                        <a:t>bias, explainability, data privacy, and human oversight</a:t>
                      </a:r>
                      <a:r>
                        <a:rPr lang="en-US" sz="800" dirty="0"/>
                        <a:t> are insufficiently addressed in existing systems.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 Limited deployment in developing regions is observed.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review concludes that </a:t>
                      </a:r>
                      <a:r>
                        <a:rPr lang="en-US" sz="800" b="1" dirty="0"/>
                        <a:t>trustworthy AI significantly enhances disaster prediction accuracy, early warning systems, and decision support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Incorporating explainability and data fusion improves reliability, stakeholder trust, and adoption of AI-based disaster management systems.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313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29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C25B5-5B75-7EE2-EB5A-87F211B3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EB71-D3BA-315C-6084-4F5AC5E31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64DE5EB1-17AA-6024-BEF6-7B00B24C4A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213251"/>
              </p:ext>
            </p:extLst>
          </p:nvPr>
        </p:nvGraphicFramePr>
        <p:xfrm>
          <a:off x="838199" y="1143000"/>
          <a:ext cx="10515600" cy="542379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7908725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73721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10344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302318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07514209"/>
                    </a:ext>
                  </a:extLst>
                </a:gridCol>
              </a:tblGrid>
              <a:tr h="434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S. No</a:t>
                      </a:r>
                      <a:endParaRPr lang="en-IN" sz="14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Title (Name of the journal, author and publication details)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Methodology (Provide a summary of key studies and their findings)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Identification of gaps and limitations (Identify limitations of the Research Paper)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Result (Include relevant metrics)</a:t>
                      </a:r>
                      <a:endParaRPr lang="en-IN" sz="900" dirty="0"/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863636219"/>
                  </a:ext>
                </a:extLst>
              </a:tr>
              <a:tr h="1241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13</a:t>
                      </a:r>
                      <a:endParaRPr lang="en-IN" sz="5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/>
                        <a:t>Integrating Machine Learning and Geospatial Data for Mapping Socioeconomic Vulnerability to Urban Natural Hazards</a:t>
                      </a:r>
                      <a:r>
                        <a:rPr lang="en-IN" sz="800" dirty="0"/>
                        <a:t> </a:t>
                      </a:r>
                      <a:br>
                        <a:rPr lang="en-IN" sz="800" dirty="0"/>
                      </a:br>
                      <a:r>
                        <a:rPr lang="en-IN" sz="800" i="1" dirty="0"/>
                        <a:t>Esaie </a:t>
                      </a:r>
                      <a:r>
                        <a:rPr lang="en-IN" sz="800" i="1" dirty="0" err="1"/>
                        <a:t>Dufitimana</a:t>
                      </a:r>
                      <a:r>
                        <a:rPr lang="en-IN" sz="800" i="1" dirty="0"/>
                        <a:t> et al.</a:t>
                      </a:r>
                      <a:r>
                        <a:rPr lang="en-IN" sz="800" dirty="0"/>
                        <a:t> </a:t>
                      </a:r>
                      <a:br>
                        <a:rPr lang="en-IN" sz="800" dirty="0"/>
                      </a:br>
                      <a:r>
                        <a:rPr lang="en-IN" sz="800" i="1" dirty="0"/>
                        <a:t>ISPRS International Journal of Geo-Information (MDPI)</a:t>
                      </a:r>
                      <a:r>
                        <a:rPr lang="en-IN" sz="800" dirty="0"/>
                        <a:t> </a:t>
                      </a:r>
                      <a:br>
                        <a:rPr lang="en-IN" sz="800" dirty="0"/>
                      </a:br>
                      <a:r>
                        <a:rPr lang="en-IN" sz="800" i="1" dirty="0"/>
                        <a:t>Published: April 2025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800" dirty="0"/>
                        <a:t>The paper proposes a </a:t>
                      </a:r>
                      <a:r>
                        <a:rPr lang="en-IN" sz="800" b="1" dirty="0"/>
                        <a:t>machine learning–based geospatial framework</a:t>
                      </a:r>
                      <a:r>
                        <a:rPr lang="en-IN" sz="800" dirty="0"/>
                        <a:t> combining </a:t>
                      </a:r>
                      <a:r>
                        <a:rPr lang="en-IN" sz="800" b="1" dirty="0"/>
                        <a:t>remote sensing data, demographic data, and socioeconomic indicators</a:t>
                      </a:r>
                      <a:r>
                        <a:rPr lang="en-IN" sz="800" dirty="0"/>
                        <a:t> to assess flood susceptibility and vulnerability.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800" dirty="0"/>
                        <a:t>Models such as </a:t>
                      </a:r>
                      <a:r>
                        <a:rPr lang="en-IN" sz="800" b="1" dirty="0"/>
                        <a:t>MLP, Random Forest, SVM, and </a:t>
                      </a:r>
                      <a:r>
                        <a:rPr lang="en-IN" sz="800" b="1" dirty="0" err="1"/>
                        <a:t>XGBoost</a:t>
                      </a:r>
                      <a:r>
                        <a:rPr lang="en-IN" sz="800" dirty="0"/>
                        <a:t> are evaluated using Kigali (Rwanda) as a case study, with validation across other African cities.</a:t>
                      </a:r>
                      <a:endParaRPr lang="en-US" sz="8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framework relies on </a:t>
                      </a:r>
                      <a:r>
                        <a:rPr lang="en-US" sz="800" b="1" dirty="0"/>
                        <a:t>availability of socio-economic and satellite data</a:t>
                      </a:r>
                      <a:r>
                        <a:rPr lang="en-US" sz="800" dirty="0"/>
                        <a:t>, which may be inconsistent in some regions.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Hazard focus is mainly on </a:t>
                      </a:r>
                      <a:r>
                        <a:rPr lang="en-US" sz="800" b="1" dirty="0"/>
                        <a:t>flooding</a:t>
                      </a:r>
                      <a:r>
                        <a:rPr lang="en-US" sz="800" dirty="0"/>
                        <a:t>, limiting multi-hazard generalization.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Computational complexity may restrict real-time deployment.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</a:t>
                      </a:r>
                      <a:r>
                        <a:rPr lang="en-US" sz="800" b="1" dirty="0"/>
                        <a:t>MLP model achieved the highest performance (AUC = 0.902)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Results reveal spatial inequality in vulnerability, with central and southern urban regions being more at risk.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framework supports data-driven urban resilience planning and risk-informed decision-making.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1687345003"/>
                  </a:ext>
                </a:extLst>
              </a:tr>
              <a:tr h="1248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</a:t>
                      </a:r>
                      <a:r>
                        <a:rPr lang="en-IN" sz="2400" dirty="0"/>
                        <a:t>4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AI-Based Emergency Response Systems for Smart Cities: Challenges and Opportunities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This paper analyzes </a:t>
                      </a:r>
                      <a:r>
                        <a:rPr lang="en-US" sz="800" b="1" dirty="0"/>
                        <a:t>AI-enabled emergency response frameworks in smart cities</a:t>
                      </a:r>
                      <a:r>
                        <a:rPr lang="en-US" sz="800" dirty="0"/>
                        <a:t>, integrating </a:t>
                      </a:r>
                      <a:r>
                        <a:rPr lang="en-US" sz="800" b="1" dirty="0"/>
                        <a:t>IoT sensors, GIS mapping, machine learning models, and cloud platforms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It focuses on real-time incident detection, traffic-aware routing, emergency dispatch optimization, and inter-agency coordination using intelligent systems.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study highlights </a:t>
                      </a:r>
                      <a:r>
                        <a:rPr lang="en-US" sz="800" b="1" dirty="0"/>
                        <a:t>high infrastructure cost</a:t>
                      </a:r>
                      <a:r>
                        <a:rPr lang="en-US" sz="800" dirty="0"/>
                        <a:t>, lack of </a:t>
                      </a:r>
                      <a:r>
                        <a:rPr lang="en-US" sz="800" b="1" dirty="0"/>
                        <a:t>interoperability between smart city platforms</a:t>
                      </a:r>
                      <a:r>
                        <a:rPr lang="en-US" sz="800" dirty="0"/>
                        <a:t>, and dependency on uninterrupted network connectivity.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Limited real-world pilot implementations reduce practical validation.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results show that AI-driven smart city emergency systems </a:t>
                      </a:r>
                      <a:r>
                        <a:rPr lang="en-US" sz="800" b="1" dirty="0"/>
                        <a:t>reduce response latency</a:t>
                      </a:r>
                      <a:r>
                        <a:rPr lang="en-US" sz="800" dirty="0"/>
                        <a:t>, improve traffic-aware routing, and enhance coordination efficiency.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Simulation outcomes indicate better utilization of emergency resources compared to conventional systems.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2290277375"/>
                  </a:ext>
                </a:extLst>
              </a:tr>
              <a:tr h="1248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15</a:t>
                      </a:r>
                      <a:endParaRPr lang="en-IN" sz="24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AI-Powered Disaster Prediction and Early Warning Systems Using IoT and Machine Learning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Multiple Authors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Springer / Elsevier Indexed Journal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Published: 2021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paper proposes an </a:t>
                      </a:r>
                      <a:r>
                        <a:rPr lang="en-US" sz="800" b="1" dirty="0"/>
                        <a:t>AI-driven early warning system</a:t>
                      </a:r>
                      <a:r>
                        <a:rPr lang="en-US" sz="800" dirty="0"/>
                        <a:t> integrating </a:t>
                      </a:r>
                      <a:r>
                        <a:rPr lang="en-US" sz="800" b="1" dirty="0"/>
                        <a:t>IoT sensor networks, remote sensing data, and machine learning models</a:t>
                      </a:r>
                      <a:r>
                        <a:rPr lang="en-US" sz="800" dirty="0"/>
                        <a:t> to predict disasters such as floods, earthquakes, and wildfires.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Predictive models analyze real-time environmental data for risk forecasting and alert generation.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approach depends heavily on </a:t>
                      </a:r>
                      <a:r>
                        <a:rPr lang="en-US" sz="800" b="1" dirty="0"/>
                        <a:t>dense sensor deployment</a:t>
                      </a:r>
                      <a:r>
                        <a:rPr lang="en-US" sz="800" dirty="0"/>
                        <a:t>, which is costly and impractical in remote areas.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Model accuracy degrades with </a:t>
                      </a:r>
                      <a:r>
                        <a:rPr lang="en-US" sz="800" b="1" dirty="0"/>
                        <a:t>noisy or missing sensor data</a:t>
                      </a:r>
                      <a:r>
                        <a:rPr lang="en-US" sz="800" dirty="0"/>
                        <a:t>. Limited discussion on system scalability and maintenance.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Results indicate improved </a:t>
                      </a:r>
                      <a:r>
                        <a:rPr lang="en-US" sz="800" b="1" dirty="0"/>
                        <a:t>prediction accuracy and earlier warning generation</a:t>
                      </a:r>
                      <a:r>
                        <a:rPr lang="en-US" sz="800" dirty="0"/>
                        <a:t>, enabling faster evacuation and preparedness.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AI-based alerts outperform traditional threshold-based warning systems in simulation experiments.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3072749033"/>
                  </a:ext>
                </a:extLst>
              </a:tr>
              <a:tr h="1248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16</a:t>
                      </a:r>
                      <a:endParaRPr lang="en-IN" sz="24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Geospatial Analytics and AI for Real-Time Resource Allocation in Emergency Management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This paper presents a </a:t>
                      </a:r>
                      <a:r>
                        <a:rPr lang="en-US" sz="800" b="1" dirty="0"/>
                        <a:t>geospatial AI framework</a:t>
                      </a:r>
                      <a:r>
                        <a:rPr lang="en-US" sz="800" dirty="0"/>
                        <a:t> combining </a:t>
                      </a:r>
                      <a:r>
                        <a:rPr lang="en-US" sz="800" b="1" dirty="0"/>
                        <a:t>GIS, real-time location data, optimization algorithms, and machine learning</a:t>
                      </a:r>
                      <a:r>
                        <a:rPr lang="en-US" sz="800" dirty="0"/>
                        <a:t> to support emergency resource allocation.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system dynamically maps incidents, available resources, and optimal routes to improve dispatch decisions during emergencies.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framework assumes </a:t>
                      </a:r>
                      <a:r>
                        <a:rPr lang="en-US" sz="800" b="1" dirty="0"/>
                        <a:t>accurate and continuously updated geospatial data</a:t>
                      </a:r>
                      <a:r>
                        <a:rPr lang="en-US" sz="800" dirty="0"/>
                        <a:t>, which may not be available in developing regions.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Real-time computation overhead and integration with legacy emergency systems are not fully addressed.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Results demonstrate </a:t>
                      </a:r>
                      <a:r>
                        <a:rPr lang="en-US" sz="800" b="1" dirty="0"/>
                        <a:t>improved response time and resource utilization efficiency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Simulation studies show faster dispatch, reduced travel time, and better coverage of high-risk zones compared to static allocation strategies.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3925421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476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072D-A9B5-32B2-8625-3835359F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5889-C168-6038-8AA0-A68BFA54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F849619D-FD2E-A349-4E02-7FA4A9CE10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095306"/>
              </p:ext>
            </p:extLst>
          </p:nvPr>
        </p:nvGraphicFramePr>
        <p:xfrm>
          <a:off x="838198" y="1066800"/>
          <a:ext cx="10515600" cy="4825999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7908725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73721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10344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302318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07514209"/>
                    </a:ext>
                  </a:extLst>
                </a:gridCol>
              </a:tblGrid>
              <a:tr h="713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S. No</a:t>
                      </a:r>
                      <a:endParaRPr lang="en-IN" sz="14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Title (Name of the journal, author and publication details)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Methodology (Provide a summary of key studies and their findings)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Identification of gaps and limitations (Identify limitations of the Research Paper)</a:t>
                      </a:r>
                      <a:endParaRPr lang="en-US" sz="9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Result (Include relevant metrics)</a:t>
                      </a:r>
                      <a:endParaRPr lang="en-IN" sz="900" dirty="0"/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863636219"/>
                  </a:ext>
                </a:extLst>
              </a:tr>
              <a:tr h="204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17</a:t>
                      </a:r>
                      <a:endParaRPr lang="en-IN" sz="500" dirty="0"/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Artificial Intelligence for Disaster Response and Recovery: A Review of Applications and Challenges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Multiple Authors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IEEE / Elsevier Review Paper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Published: 2022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This paper provides a </a:t>
                      </a:r>
                      <a:r>
                        <a:rPr lang="en-US" sz="800" b="1" dirty="0"/>
                        <a:t>comprehensive review</a:t>
                      </a:r>
                      <a:r>
                        <a:rPr lang="en-US" sz="800" dirty="0"/>
                        <a:t> of AI applications in disaster response and recovery phases.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It studies </a:t>
                      </a:r>
                      <a:r>
                        <a:rPr lang="en-US" sz="800" b="1" dirty="0"/>
                        <a:t>machine learning, deep learning, computer vision, robotics, UAVs, and decision-support systems</a:t>
                      </a:r>
                      <a:r>
                        <a:rPr lang="en-US" sz="800" dirty="0"/>
                        <a:t> used for damage assessment, search and rescue, logistics planning, and recovery monitoring.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Most AI applications are </a:t>
                      </a:r>
                      <a:r>
                        <a:rPr lang="en-US" sz="800" b="1" dirty="0"/>
                        <a:t>domain-specific</a:t>
                      </a:r>
                      <a:r>
                        <a:rPr lang="en-US" sz="800" dirty="0"/>
                        <a:t> and lack cross-disaster adaptability.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Limited integration of AI outputs with human decision-making workflows.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Ethical issues such as </a:t>
                      </a:r>
                      <a:r>
                        <a:rPr lang="en-US" sz="800" b="1" dirty="0"/>
                        <a:t>data privacy, accountability, and trust</a:t>
                      </a:r>
                      <a:r>
                        <a:rPr lang="en-US" sz="800" dirty="0"/>
                        <a:t> are insufficiently addressed.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review highlights that AI improves </a:t>
                      </a:r>
                      <a:r>
                        <a:rPr lang="en-US" sz="800" b="1" dirty="0"/>
                        <a:t>damage assessment accuracy, rescue efficiency, and recovery planning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Automated analysis of imagery and sensor data significantly reduces response delays and enhances coordination across agencies.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1687345003"/>
                  </a:ext>
                </a:extLst>
              </a:tr>
              <a:tr h="207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</a:t>
                      </a:r>
                      <a:r>
                        <a:rPr lang="en-IN" sz="2400" dirty="0"/>
                        <a:t>8</a:t>
                      </a:r>
                    </a:p>
                  </a:txBody>
                  <a:tcPr marL="23145" marR="23145" marT="11573" marB="11573" anchor="ctr" anchorCtr="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AI-Assisted Emergency Response and Resource Mapping System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Multiple Authors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International Conference / Journal Publication</a:t>
                      </a:r>
                      <a:r>
                        <a:rPr lang="en-US" sz="800" dirty="0"/>
                        <a:t> </a:t>
                      </a:r>
                      <a:br>
                        <a:rPr lang="en-US" sz="800" dirty="0"/>
                      </a:br>
                      <a:r>
                        <a:rPr lang="en-US" sz="800" i="1" dirty="0"/>
                        <a:t>Published: 2024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/>
                        <a:t>This paper proposes an </a:t>
                      </a:r>
                      <a:r>
                        <a:rPr lang="en-US" sz="800" b="1"/>
                        <a:t>AI-assisted emergency response and resource mapping framework</a:t>
                      </a:r>
                      <a:r>
                        <a:rPr lang="en-US" sz="800"/>
                        <a:t> that integrates </a:t>
                      </a:r>
                      <a:r>
                        <a:rPr lang="en-US" sz="800" b="1"/>
                        <a:t>machine learning, GIS, real-time data streams, and predictive analytics</a:t>
                      </a:r>
                      <a:r>
                        <a:rPr lang="en-US" sz="80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/>
                        <a:t>The system analyzes emergency inputs, predicts incident severity, identifies nearby resources, and suggests optimal response strategies using location-based services.</a:t>
                      </a:r>
                      <a:endParaRPr lang="en-US" sz="800" dirty="0"/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The system’s effectiveness depends on </a:t>
                      </a:r>
                      <a:r>
                        <a:rPr lang="en-US" sz="800" b="1" dirty="0"/>
                        <a:t>real-time data availability and accuracy</a:t>
                      </a:r>
                      <a:r>
                        <a:rPr lang="en-US" sz="8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Limited validation using real-world emergency datasets.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Scalability and interoperability across multiple agencies remain open challenges.</a:t>
                      </a:r>
                    </a:p>
                  </a:txBody>
                  <a:tcPr marL="23145" marR="23145" marT="11573" marB="11573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Results show </a:t>
                      </a:r>
                      <a:r>
                        <a:rPr lang="en-US" sz="800" b="1" dirty="0"/>
                        <a:t>improved response time, better situational awareness, and efficient resource utilization</a:t>
                      </a:r>
                      <a:r>
                        <a:rPr lang="en-US" sz="800" dirty="0"/>
                        <a:t> compared to traditional emergency response systems.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AI-driven recommendations support faster and more informed decision-making during critical situations.</a:t>
                      </a:r>
                    </a:p>
                  </a:txBody>
                  <a:tcPr marL="23145" marR="23145" marT="11573" marB="11573" anchor="ctr"/>
                </a:tc>
                <a:extLst>
                  <a:ext uri="{0D108BD9-81ED-4DB2-BD59-A6C34878D82A}">
                    <a16:rowId xmlns:a16="http://schemas.microsoft.com/office/drawing/2014/main" val="2290277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18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0EA2-ABA8-3C72-A722-24B5F05D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3818-315D-A2A4-186C-8235C54B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Research Gaps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EE0D422-7614-9B56-A7F2-4541D75322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411040"/>
            <a:ext cx="10515600" cy="4732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real-time AI decision support for flood management authorities.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scalability and interoperability of existing flood monitoring platforms.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lack structured post-event analysis and adaptive recalibration.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Flood prediction models are globally trained and lack region-specific sensitivity adjustment.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integration of spatial flood hotspot intelligence with closed-loop predictive feedback. </a:t>
            </a:r>
          </a:p>
        </p:txBody>
      </p:sp>
    </p:spTree>
    <p:extLst>
      <p:ext uri="{BB962C8B-B14F-4D97-AF65-F5344CB8AC3E}">
        <p14:creationId xmlns:p14="http://schemas.microsoft.com/office/powerpoint/2010/main" val="2659458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D7235-DEBC-A777-06BD-3354F50C6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1279-50F5-EA0E-1A71-055FB43B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FEC250-8F68-8D20-8CD2-D677D16F6B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06083"/>
            <a:ext cx="10515600" cy="4543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To design an AI-assisted flood prediction framework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Develop spatiotemporal flood risk prediction model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Design region-aware discrepancy index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Implement adaptive recalibration framework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Quantify prediction improvement over iterative feedback cycles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To </a:t>
            </a:r>
            <a:r>
              <a:rPr lang="en-IN" sz="2400" dirty="0" err="1"/>
              <a:t>analyze</a:t>
            </a:r>
            <a:r>
              <a:rPr lang="en-IN" sz="2400" dirty="0"/>
              <a:t> flood-related inputs and predict flood severity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531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EE5C-0DA9-792D-300B-ED417637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Novelty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EFD749-3217-9E98-CEE2-9278D3580E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53354"/>
            <a:ext cx="10515600" cy="4446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Proposed Novel Contribution: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/>
              <a:t>The system follows a Predict → Analyze → Improve cycle.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Structured region-aware discrepancy index formulation 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Continuous adaptive recalibration in flood prediction 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of spatial clustering with feedback-driven model sensitivity adjustment 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Self-learning model that learns from past flood outcomes 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such a UI that does not exist for BIHAR on </a:t>
            </a:r>
            <a:r>
              <a:rPr lang="en-US" altLang="en-US" sz="2000" dirty="0">
                <a:latin typeface="Arial" panose="020B0604020202020204" pitchFamily="34" charset="0"/>
              </a:rPr>
              <a:t>any of the government sites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Proper Data Representation using the GIS </a:t>
            </a:r>
            <a:r>
              <a:rPr lang="en-US" altLang="en-US" sz="2000" dirty="0">
                <a:latin typeface="Arial" panose="020B0604020202020204" pitchFamily="34" charset="0"/>
              </a:rPr>
              <a:t>not yet implemented that clearly for BIHAR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002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74F6-F573-34AA-2030-5E7080D73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 Backlog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F517-EFD8-19BF-D4B0-EDCCD5968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78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High Priority Tasks</a:t>
            </a:r>
          </a:p>
          <a:p>
            <a:pPr lvl="1"/>
            <a:r>
              <a:rPr lang="en-US" dirty="0"/>
              <a:t>Data collection and preprocessing of flood-related dataset </a:t>
            </a:r>
          </a:p>
          <a:p>
            <a:pPr lvl="1"/>
            <a:r>
              <a:rPr lang="en-US" dirty="0"/>
              <a:t>Spatial clustering and flood hotspot heatmap generation </a:t>
            </a:r>
          </a:p>
          <a:p>
            <a:pPr lvl="1"/>
            <a:r>
              <a:rPr lang="en-US" dirty="0"/>
              <a:t>Development of multi-output flood prediction model </a:t>
            </a:r>
          </a:p>
          <a:p>
            <a:pPr lvl="1"/>
            <a:r>
              <a:rPr lang="en-US" dirty="0"/>
              <a:t>Formulation of region-aware discrepancy index </a:t>
            </a:r>
          </a:p>
          <a:p>
            <a:pPr lvl="1"/>
            <a:r>
              <a:rPr lang="en-US" dirty="0"/>
              <a:t>Implementation of adaptive post-event recalibration mechanism 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Medium Priority Tasks</a:t>
            </a:r>
          </a:p>
          <a:p>
            <a:pPr lvl="1"/>
            <a:r>
              <a:rPr lang="en-US" dirty="0"/>
              <a:t>Anomaly detection for sudden flood spikes </a:t>
            </a:r>
          </a:p>
          <a:p>
            <a:pPr lvl="1"/>
            <a:r>
              <a:rPr lang="en-US" dirty="0"/>
              <a:t>Evaluation metrics implementation (MAE, RMSE, error reduction tracking) </a:t>
            </a:r>
          </a:p>
          <a:p>
            <a:pPr lvl="1"/>
            <a:r>
              <a:rPr lang="en-US" dirty="0"/>
              <a:t>Region-wise prediction performance analysis 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Low Priority Tasks</a:t>
            </a:r>
          </a:p>
          <a:p>
            <a:pPr lvl="1"/>
            <a:r>
              <a:rPr lang="en-US" dirty="0"/>
              <a:t>Development of interactive dashboard for visualization </a:t>
            </a:r>
          </a:p>
          <a:p>
            <a:pPr lvl="1"/>
            <a:r>
              <a:rPr lang="en-US" dirty="0"/>
              <a:t>Visualization of learning improvement over iterations </a:t>
            </a:r>
          </a:p>
          <a:p>
            <a:pPr lvl="1"/>
            <a:r>
              <a:rPr lang="en-US" dirty="0"/>
              <a:t>System documentation and deployment preparation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109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672E-C531-8B4D-9E78-BC44747F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67C7-B612-5B2C-ED1A-81579E7B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Justification of Project SDG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E39DE-7195-2F88-2B1C-D88F0B51D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Aligned Sustainable Development Goals (SDGs):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SDG 3 – Good Health and Well-Being</a:t>
            </a:r>
            <a:endParaRPr lang="en-US" sz="1600" dirty="0"/>
          </a:p>
          <a:p>
            <a:pPr marL="457200" lvl="1" indent="0">
              <a:buNone/>
            </a:pPr>
            <a:r>
              <a:rPr lang="en-US" sz="1800" dirty="0"/>
              <a:t>Faster medical emergency response saves lives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SDG 11 – Sustainable Cities and Communities</a:t>
            </a:r>
            <a:endParaRPr lang="en-US" sz="1600" dirty="0"/>
          </a:p>
          <a:p>
            <a:pPr marL="457200" lvl="1" indent="0">
              <a:buNone/>
            </a:pPr>
            <a:r>
              <a:rPr lang="en-US" sz="1800" dirty="0"/>
              <a:t>Improves disaster preparedness and urban safety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SDG 9 – Industry, Innovation, and Infrastructure</a:t>
            </a:r>
            <a:endParaRPr lang="en-US" sz="1600" dirty="0"/>
          </a:p>
          <a:p>
            <a:pPr marL="457200" lvl="1" indent="0">
              <a:buNone/>
            </a:pPr>
            <a:r>
              <a:rPr lang="en-US" sz="1800" dirty="0"/>
              <a:t>Uses AI and smart technologies for public safety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This project supports sustainable and resilient emergency management systems.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591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BF0E-621B-2C7B-FCEC-BD99F54C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5B29-6DD3-DCB7-4F61-723DEBA6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Plan of Action (Timeline)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F89B7B-8AFB-0AC4-8884-CFB6FC2DB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734172"/>
              </p:ext>
            </p:extLst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250896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56811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48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 analysis &amp; requirement gathering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364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 review &amp; system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713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model selection and data preparation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9474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Resource mapping &amp; GIS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206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62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and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95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Documentation &amp; PPT preparation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31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19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6A3D-FBA8-DA48-213D-A10C6B70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26DD-1655-45CC-BF0E-BA1F37E0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References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A92EDC2-D039-54C7-9E4B-381E0FE5AB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6186"/>
            <a:ext cx="1051559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Bajwa, A.,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Emergency Response Systems: A Systematic Literature Review on Smart Infrastructure Safety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American Journal of Advanced Technology and Engineering Solutions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1, Issue 1,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Mercadé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S.,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IRIS-AI: An AI-Based Resource Recommender for Emergency Decision Support Systems of Fire Departments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Computational Intelligence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Diehr, J.,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and Machine Learning-Powered GIS for Proactive Disaster Resilience in a Changing Climate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Taylor &amp; Francis Journal of Disaster Studies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Sun, W.,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 of Artificial Intelligence for Disaster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ISCRAM Conference Proceedings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Htun, T., Soe, A. N., Aye, N. N., Htut, Z. M.,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Emergency Response Systems Powered by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University of Computer Studies, Yangon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Khan, S. M.,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Systematic Review of Disaster Management Systems: Approaches, Challenges, and Future Directions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 (MDPI)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July 2023.</a:t>
            </a:r>
          </a:p>
        </p:txBody>
      </p:sp>
    </p:spTree>
    <p:extLst>
      <p:ext uri="{BB962C8B-B14F-4D97-AF65-F5344CB8AC3E}">
        <p14:creationId xmlns:p14="http://schemas.microsoft.com/office/powerpoint/2010/main" val="277091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3750-200D-ED25-AD81-B37D931BA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39EF-1B91-19C3-5B03-C4DBC3089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References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9BF1172-8010-403C-4403-B8EEFA4390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44715"/>
            <a:ext cx="104013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Tonwe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OPTIC-ER: A Reinforcement Learning Framework for Real-Time Emergency Response and Equitable Resource Allocation in Underserved African Communities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Ghaffarian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S.,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Artificial Intelligence in Disaster Risk Management: Achievements and Prospective Futures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Disaster Risk Reduction (Elsevier)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November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Abid, S. K.,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AI-Enhanced Crowdsourcing for Disaster Management: Strengthening Community Resilience Through Social Media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Emergency Medicine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Attiah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Kalkatawi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Smart Emergency Services Support for 9-1-1 Call Handlers Using Textual Features and SVM Model for Digital Health Optimization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Frontiers in Big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Albahri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 S.,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Systematic Review of Trustworthy Artificial Intelligence Applications in Natural Disasters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 and Electrical Engineering (Elsevier)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June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965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BFC72-D801-D8B8-0A75-C3219380A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C49D4-CC10-20E5-BD73-A9F988AA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References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839FFBE-635B-5294-216D-931CF0DDD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83537"/>
            <a:ext cx="10236200" cy="4538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" panose="020B0604020202020204" pitchFamily="34" charset="0"/>
              </a:rPr>
              <a:t>Dufitimana</a:t>
            </a:r>
            <a:r>
              <a:rPr lang="en-US" altLang="en-US" sz="1800" dirty="0">
                <a:latin typeface="Arial" panose="020B0604020202020204" pitchFamily="34" charset="0"/>
              </a:rPr>
              <a:t>, E., et al., </a:t>
            </a:r>
            <a:r>
              <a:rPr lang="en-US" altLang="en-US" sz="1800" i="1" dirty="0">
                <a:latin typeface="Arial" panose="020B0604020202020204" pitchFamily="34" charset="0"/>
              </a:rPr>
              <a:t>Integrating Machine Learning and Geospatial Data for Mapping Socioeconomic Vulnerability to Urban Natural Hazards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b="1" dirty="0">
                <a:latin typeface="Arial" panose="020B0604020202020204" pitchFamily="34" charset="0"/>
              </a:rPr>
              <a:t>ISPRS International Journal of Geo-Information (MDPI)</a:t>
            </a:r>
            <a:r>
              <a:rPr lang="en-US" altLang="en-US" sz="1800" dirty="0">
                <a:latin typeface="Arial" panose="020B0604020202020204" pitchFamily="34" charset="0"/>
              </a:rPr>
              <a:t>, April 2025.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i="1" dirty="0">
                <a:latin typeface="Arial" panose="020B0604020202020204" pitchFamily="34" charset="0"/>
              </a:rPr>
              <a:t>AI-Based Emergency Response Systems for Smart Cities: Challenges and Opportunities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b="1" dirty="0">
                <a:latin typeface="Arial" panose="020B0604020202020204" pitchFamily="34" charset="0"/>
              </a:rPr>
              <a:t>IEEE / Elsevier Indexed Publication</a:t>
            </a:r>
            <a:r>
              <a:rPr lang="en-US" altLang="en-US" sz="1800" dirty="0">
                <a:latin typeface="Arial" panose="020B0604020202020204" pitchFamily="34" charset="0"/>
              </a:rPr>
              <a:t>, 2022.</a:t>
            </a:r>
          </a:p>
          <a:p>
            <a:r>
              <a:rPr lang="en-US" altLang="en-US" sz="1800" i="1" dirty="0">
                <a:latin typeface="Arial" panose="020B0604020202020204" pitchFamily="34" charset="0"/>
              </a:rPr>
              <a:t>AI-Powered Disaster Prediction and Early Warning Systems Using IoT and Machine Learning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b="1" dirty="0">
                <a:latin typeface="Arial" panose="020B0604020202020204" pitchFamily="34" charset="0"/>
              </a:rPr>
              <a:t>Springer / Elsevier Indexed Journal</a:t>
            </a:r>
            <a:r>
              <a:rPr lang="en-US" altLang="en-US" sz="1800" dirty="0">
                <a:latin typeface="Arial" panose="020B0604020202020204" pitchFamily="34" charset="0"/>
              </a:rPr>
              <a:t>, 2021.</a:t>
            </a:r>
            <a:r>
              <a:rPr lang="en-US" sz="1800" i="1" dirty="0"/>
              <a:t> </a:t>
            </a:r>
          </a:p>
          <a:p>
            <a:r>
              <a:rPr lang="en-US" sz="1800" i="1" dirty="0"/>
              <a:t>Geospatial Analytics and AI for Real-Time Resource Allocation in Emergency Management</a:t>
            </a:r>
            <a:r>
              <a:rPr lang="en-US" sz="1800" dirty="0"/>
              <a:t>, </a:t>
            </a:r>
            <a:r>
              <a:rPr lang="en-US" sz="1800" b="1" dirty="0"/>
              <a:t>Elsevier / Springer Journal</a:t>
            </a:r>
            <a:r>
              <a:rPr lang="en-US" sz="1800" dirty="0"/>
              <a:t>, 2023.</a:t>
            </a:r>
          </a:p>
          <a:p>
            <a:r>
              <a:rPr lang="en-US" sz="1800" i="1" dirty="0"/>
              <a:t>Artificial Intelligence for Disaster Response and Recovery: A Review of Applications and Challenges</a:t>
            </a:r>
            <a:r>
              <a:rPr lang="en-US" sz="1800" dirty="0"/>
              <a:t>, </a:t>
            </a:r>
            <a:r>
              <a:rPr lang="en-US" sz="1800" b="1" dirty="0"/>
              <a:t>IEEE / Elsevier Review Paper</a:t>
            </a:r>
            <a:r>
              <a:rPr lang="en-US" sz="1800" dirty="0"/>
              <a:t>, 2022.</a:t>
            </a:r>
          </a:p>
          <a:p>
            <a:r>
              <a:rPr lang="en-US" sz="1800" i="1" dirty="0"/>
              <a:t>AI-Assisted Emergency Response and Resource Mapping System</a:t>
            </a:r>
            <a:r>
              <a:rPr lang="en-US" sz="1800" dirty="0"/>
              <a:t>, </a:t>
            </a:r>
            <a:r>
              <a:rPr lang="en-US" sz="1800" b="1" dirty="0"/>
              <a:t>International Conference / Journal Publication</a:t>
            </a:r>
            <a:r>
              <a:rPr lang="en-US" sz="1800" dirty="0"/>
              <a:t>, 2024.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95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6529</TotalTime>
  <Words>3812</Words>
  <Application>Microsoft Office PowerPoint</Application>
  <PresentationFormat>Widescreen</PresentationFormat>
  <Paragraphs>320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Times New Roman</vt:lpstr>
      <vt:lpstr>Wingdings</vt:lpstr>
      <vt:lpstr>Office Theme</vt:lpstr>
      <vt:lpstr>THIRD REVIEW  AERIS: AI-Driven Decision Support System for Flood Resilience and Post-Event Learning in Bihar  Project Category: RESEARCH</vt:lpstr>
      <vt:lpstr>Abstract</vt:lpstr>
      <vt:lpstr>Introduction</vt:lpstr>
      <vt:lpstr>Architecture Diagram</vt:lpstr>
      <vt:lpstr>Literature Survey</vt:lpstr>
      <vt:lpstr>Literature Survey</vt:lpstr>
      <vt:lpstr>Literature Survey</vt:lpstr>
      <vt:lpstr>Literature Survey</vt:lpstr>
      <vt:lpstr>Literature Survey</vt:lpstr>
      <vt:lpstr>Research Gaps</vt:lpstr>
      <vt:lpstr>Objectives</vt:lpstr>
      <vt:lpstr>Novelty</vt:lpstr>
      <vt:lpstr>Product Backlog</vt:lpstr>
      <vt:lpstr>Justification of Project SDG</vt:lpstr>
      <vt:lpstr>Plan of Action (Timeline)</vt:lpstr>
      <vt:lpstr>References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senthil kumar</dc:creator>
  <cp:lastModifiedBy>Vansh Agrawal</cp:lastModifiedBy>
  <cp:revision>18</cp:revision>
  <dcterms:created xsi:type="dcterms:W3CDTF">2024-07-15T07:58:00Z</dcterms:created>
  <dcterms:modified xsi:type="dcterms:W3CDTF">2026-04-29T01:34:14Z</dcterms:modified>
</cp:coreProperties>
</file>